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876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Disciplinas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-1</c:v>
                </c:pt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  <c:pt idx="4">
                  <c:v>9</c:v>
                </c:pt>
                <c:pt idx="5">
                  <c:v>23</c:v>
                </c:pt>
                <c:pt idx="6">
                  <c:v>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C-4041-981D-4E42D847EB1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84"/>
                    </a:solidFill>
                    <a:latin typeface="Arial"/>
                  </a:defRPr>
                </a:pPr>
                <a:r>
                  <a:rPr lang="pt-BR" sz="1600" b="0" i="0" u="none" strike="noStrike" dirty="0">
                    <a:solidFill>
                      <a:srgbClr val="5B6584"/>
                    </a:solidFill>
                    <a:latin typeface="Arial"/>
                  </a:rPr>
                  <a:t>Aptidão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9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455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8BDD2-580D-E333-D97C-45148507A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652C15-AD13-6E76-A269-EDE0475FCF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F3737-BA8C-37F1-27A9-188B0E21A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7D78A-673B-ED53-C257-E6B7B3C70E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864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science/sbpo/sbpo-2025/trabalhos/otimizacao-da-distribuicao-de-disciplinas-a-professores-baseada-em-busca-local?lang=pt-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754880"/>
            <a:ext cx="4206240" cy="420624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4297680"/>
            <a:ext cx="1280160" cy="128016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 ·  INTELIGÊNCIA COMPUTACIONAL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Otimização da Distribuição de Disciplinas a Professores Baseada em Busca Local</a:t>
            </a:r>
            <a:endParaRPr lang="en-US" sz="3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118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construtivo + busca local para um problema de </a:t>
            </a:r>
            <a:r>
              <a:rPr lang="en-US" sz="15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</a:t>
            </a: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combinatória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2926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9374" y="4526279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 </a:t>
            </a: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Morishita, C. N.; Meira, L. A. A. — 57º SBPO, Gramado/RS, 2025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5029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Gotelip Delgado  ·  Mickaell de Oliveira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de Inteligência Computacional — DCC136, UFJF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685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ver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EEF3FC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46504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46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916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problema: objetivo, restrições e ilustração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258568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EEF3FC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313432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313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25856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da solução </a:t>
            </a:r>
            <a:r>
              <a:rPr lang="en-US" sz="14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representação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825496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EEF3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80360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82549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soluções são avaliadas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392424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EEF3FC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44728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39242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local: vizinhança e movimentos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59352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EEF3F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" y="4014216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014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95935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</a:t>
            </a:r>
            <a:r>
              <a:rPr lang="en-US" sz="14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4526280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EEF3FC"/>
          </a:solidFill>
          <a:ln/>
        </p:spPr>
      </p:sp>
      <p:sp>
        <p:nvSpPr>
          <p:cNvPr id="27" name="Shape 25"/>
          <p:cNvSpPr/>
          <p:nvPr/>
        </p:nvSpPr>
        <p:spPr>
          <a:xfrm>
            <a:off x="685800" y="4581144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45811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234440" y="45262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método falha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093208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EEF3FC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" y="5148072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85800" y="5148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509320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conclusões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— Otimização da Distribuição de Disciplinas a Professores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685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Timetabling: atribuir disciplinas a professores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4767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Distribuir automaticamente as disciplinas dos cursos TADS e BSI (Unicamp) entre os professores, no lugar do processo manual da coordenação.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227832"/>
            <a:ext cx="146304" cy="146304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04952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oferecimento recebe exatamente 1 professor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146304" cy="146304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61645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é permitido atribuir professor com aptidão &gt; -1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48640" y="4361688"/>
            <a:ext cx="146304" cy="146304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177937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carga horária deve ficar equilibrada entre </a:t>
            </a:r>
            <a:r>
              <a:rPr lang="en-US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292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Oferecimentos:  </a:t>
            </a: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disciplina pode ser ofertada mais de uma vez — par (disciplina, nº da oferta), ex.: (TT010,0)→BSI, (TT010,1)→TADS.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5394960" cy="320040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18105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Ilustração — planilha de aptidões (trecho)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194560"/>
          <a:ext cx="4846320" cy="15087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Oferecimento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· Cálculo 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· Algoritmos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4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4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4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4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 · Estrutura de 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640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653796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Aptidão: 5 (máxima) … 0 (aceita) … -1 (nunca é atribuído)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4206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= 1 oferecimento (disciplina + nº da oferta); cada coluna = 1 professor.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50292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Complexidade: interesses individuais + carga equilibrada + muitas disciplinas × muitos docentes = combinações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— Otimização da Distribuição de Disciplinas a Professores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CONSTRUTIVO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685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da solução inicial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03520" cy="914400"/>
          </a:xfrm>
          <a:prstGeom prst="roundRect">
            <a:avLst>
              <a:gd name="adj" fmla="val 10000"/>
            </a:avLst>
          </a:prstGeom>
          <a:solidFill>
            <a:srgbClr val="EEF3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70560" y="1737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da solução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70560" y="2011680"/>
            <a:ext cx="518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: D → P</a:t>
            </a: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que mapeia cada oferecimento a um professor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530352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construção aleatória (e não gulosa)?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004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gera solução </a:t>
            </a:r>
            <a:r>
              <a:rPr lang="en-US" sz="14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viável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não introduz viés de decisões </a:t>
            </a:r>
            <a:r>
              <a:rPr lang="en-US" sz="14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gulosas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antecipadas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 refinamento fica todo a cargo da busca local.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6002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947672"/>
            <a:ext cx="5394960" cy="621792"/>
          </a:xfrm>
          <a:prstGeom prst="roundRect">
            <a:avLst>
              <a:gd name="adj" fmla="val 10294"/>
            </a:avLst>
          </a:prstGeom>
          <a:solidFill>
            <a:srgbClr val="EEF3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203911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6520" y="20391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20025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cada oferecimento 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2768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percorre-se a lista, um por vez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63640" y="2660904"/>
            <a:ext cx="5394960" cy="621792"/>
          </a:xfrm>
          <a:prstGeom prst="roundRect">
            <a:avLst>
              <a:gd name="adj" fmla="val 10294"/>
            </a:avLst>
          </a:prstGeom>
          <a:solidFill>
            <a:srgbClr val="EEF3FC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275234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27523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715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Filtra professores aptos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990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aptidão(professor, disciplina) &gt; -1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3374136"/>
            <a:ext cx="5394960" cy="621792"/>
          </a:xfrm>
          <a:prstGeom prst="roundRect">
            <a:avLst>
              <a:gd name="adj" fmla="val 10294"/>
            </a:avLst>
          </a:prstGeom>
          <a:solidFill>
            <a:srgbClr val="1E2761"/>
          </a:solidFill>
          <a:ln/>
        </p:spPr>
      </p:sp>
      <p:sp>
        <p:nvSpPr>
          <p:cNvPr id="24" name="Shape 22"/>
          <p:cNvSpPr/>
          <p:nvPr/>
        </p:nvSpPr>
        <p:spPr>
          <a:xfrm>
            <a:off x="6446520" y="3465576"/>
            <a:ext cx="438912" cy="438912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46520" y="34655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3429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Sorteia um professor apto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703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atribui a esse oferecimento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4251960"/>
            <a:ext cx="11109960" cy="2103120"/>
          </a:xfrm>
          <a:prstGeom prst="roundRect">
            <a:avLst>
              <a:gd name="adj" fmla="val 4762"/>
            </a:avLst>
          </a:prstGeom>
          <a:solidFill>
            <a:srgbClr val="0F153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8200" y="4297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1 — Geração de uma solução inicial aleatória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38200" y="4727448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oferecimento ∈ D faça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aptos ← ∅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para cada professor ∈ P faça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 aptidao(professor, disciplina) &gt; -1 então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aptos ← aptos ∪ {professor}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solucao[oferecimento] ← escolherAleatorio(aptos)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fim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— Otimização da Distribuição de Disciplinas a Professores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685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soluções são avaliadas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funções objetivo, combinadas por soma </a:t>
            </a:r>
            <a:r>
              <a:rPr lang="en-US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ponderada</a:t>
            </a:r>
            <a:r>
              <a:rPr lang="en-US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Quanto menor o custo, melhor a solução.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3538728" cy="3337560"/>
          </a:xfrm>
          <a:prstGeom prst="roundRect">
            <a:avLst>
              <a:gd name="adj" fmla="val 2740"/>
            </a:avLst>
          </a:prstGeom>
          <a:solidFill>
            <a:srgbClr val="EEF3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2212848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atribuição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724912"/>
            <a:ext cx="3026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00" b="1" baseline="-40000" dirty="0">
                <a:solidFill>
                  <a:srgbClr val="1E2761"/>
                </a:solidFill>
              </a:rPr>
              <a:t>atrib</a:t>
            </a: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(S) = Σ x</a:t>
            </a:r>
            <a:r>
              <a:rPr lang="en-US" sz="1000" b="1" baseline="-40000" dirty="0">
                <a:solidFill>
                  <a:srgbClr val="1E2761"/>
                </a:solidFill>
              </a:rPr>
              <a:t>ij</a:t>
            </a: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</a:t>
            </a:r>
            <a:r>
              <a:rPr lang="en-US" sz="1000" b="1" baseline="-40000" dirty="0">
                <a:solidFill>
                  <a:srgbClr val="1E2761"/>
                </a:solidFill>
              </a:rPr>
              <a:t>ij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886200"/>
            <a:ext cx="30266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o custo de cada atribuição, conforme a tabela de aptidão (1.0 para aptidão 5 → 10.0 para aptidão -1).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06824" y="2011680"/>
            <a:ext cx="3538728" cy="3337560"/>
          </a:xfrm>
          <a:prstGeom prst="roundRect">
            <a:avLst>
              <a:gd name="adj" fmla="val 2740"/>
            </a:avLst>
          </a:prstGeom>
          <a:solidFill>
            <a:srgbClr val="EEF3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62856" y="2212848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distribuição</a:t>
            </a:r>
            <a:endParaRPr lang="en-US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2724912"/>
            <a:ext cx="3026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00" b="1" baseline="-40000" dirty="0">
                <a:solidFill>
                  <a:srgbClr val="1E2761"/>
                </a:solidFill>
              </a:rPr>
              <a:t>dist</a:t>
            </a: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(S) = Σ ρ(i,S)</a:t>
            </a:r>
            <a:r>
              <a:rPr lang="en-US" sz="1100" b="1" baseline="30000" dirty="0">
                <a:solidFill>
                  <a:srgbClr val="1E2761"/>
                </a:solidFill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3886200"/>
            <a:ext cx="30266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o quadrado da carga de </a:t>
            </a:r>
            <a:r>
              <a:rPr lang="en-US" sz="14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professor: </a:t>
            </a:r>
            <a:r>
              <a:rPr lang="en-US" sz="14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cargas desequilibradas (ex.: {2,2,2}→12 vs. {1,1,4}→18).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65008" y="2011680"/>
            <a:ext cx="3538728" cy="3337560"/>
          </a:xfrm>
          <a:prstGeom prst="roundRect">
            <a:avLst>
              <a:gd name="adj" fmla="val 274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212848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combinado</a:t>
            </a:r>
            <a:endParaRPr lang="en-US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724912"/>
            <a:ext cx="3026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f(S) = </a:t>
            </a:r>
            <a:r>
              <a:rPr lang="en-US" sz="1600" b="1" dirty="0">
                <a:solidFill>
                  <a:srgbClr val="F2A541"/>
                </a:solidFill>
              </a:rPr>
              <a:t>0.5 ⁄4047</a:t>
            </a: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600" b="1" baseline="-40000" dirty="0">
                <a:solidFill>
                  <a:srgbClr val="FFFFFF"/>
                </a:solidFill>
              </a:rPr>
              <a:t>dist</a:t>
            </a: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r>
              <a:rPr lang="en-US" sz="1600" b="1" dirty="0">
                <a:solidFill>
                  <a:srgbClr val="F2A541"/>
                </a:solidFill>
              </a:rPr>
              <a:t>0.5 ⁄152</a:t>
            </a: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600" b="1" baseline="-40000" dirty="0">
                <a:solidFill>
                  <a:srgbClr val="FFFFFF"/>
                </a:solidFill>
              </a:rPr>
              <a:t>atrib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886200"/>
            <a:ext cx="30266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</a:t>
            </a:r>
            <a:r>
              <a:rPr lang="en-US" sz="14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iguais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4047 e 152 normalizam as </a:t>
            </a:r>
            <a:r>
              <a:rPr lang="en-US" sz="14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escalas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cada critério.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— Otimização da Distribuição de Disciplinas a Professores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685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 local: vizinhança e movimentos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iteração, a solução é perturbada por um </a:t>
            </a:r>
            <a:r>
              <a:rPr lang="en-US" sz="17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</a:t>
            </a: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o custo combinado melhora, a mudança é </a:t>
            </a:r>
            <a:r>
              <a:rPr lang="en-US" sz="17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</a:t>
            </a: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7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Senão</a:t>
            </a: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é descartada.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514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solução já encontrada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210312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EEF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94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514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perturbada (swap/swap2)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337560" y="23957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</a:t>
            </a:r>
            <a:r>
              <a:rPr lang="en-US" sz="14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← f(sol) melhor? vira best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66760" y="210312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3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7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senão: sol volta a ser best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6492240" cy="1965960"/>
          </a:xfrm>
          <a:prstGeom prst="roundRect">
            <a:avLst>
              <a:gd name="adj" fmla="val 4651"/>
            </a:avLst>
          </a:prstGeom>
          <a:solidFill>
            <a:srgbClr val="EEF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383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Movimento swap — troca a atribuição de 1 oferecimento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3794760"/>
            <a:ext cx="2103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7D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3913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I</a:t>
            </a:r>
            <a:endParaRPr lang="en-US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224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Carlos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4617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4114800"/>
            <a:ext cx="594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749040" y="3794760"/>
            <a:ext cx="210312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886200" y="3913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I</a:t>
            </a:r>
            <a:endParaRPr lang="en-US" dirty="0"/>
          </a:p>
        </p:txBody>
      </p:sp>
      <p:sp>
        <p:nvSpPr>
          <p:cNvPr id="25" name="Text 23"/>
          <p:cNvSpPr txBox="1"/>
          <p:nvPr/>
        </p:nvSpPr>
        <p:spPr>
          <a:xfrm>
            <a:off x="3886200" y="4224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Daniela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886200" y="4617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223760" y="3246120"/>
            <a:ext cx="4434840" cy="1965960"/>
          </a:xfrm>
          <a:prstGeom prst="roundRect">
            <a:avLst>
              <a:gd name="adj" fmla="val 4651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0" y="3383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swap2</a:t>
            </a:r>
            <a:endParaRPr lang="en-US" dirty="0"/>
          </a:p>
        </p:txBody>
      </p:sp>
      <p:sp>
        <p:nvSpPr>
          <p:cNvPr id="29" name="Text 27"/>
          <p:cNvSpPr txBox="1"/>
          <p:nvPr/>
        </p:nvSpPr>
        <p:spPr>
          <a:xfrm>
            <a:off x="7498080" y="36850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o processo de troca duas vezes na mesma iteração — perturbação maior.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498080" y="4251960"/>
            <a:ext cx="3931920" cy="0"/>
          </a:xfrm>
          <a:prstGeom prst="line">
            <a:avLst/>
          </a:prstGeom>
          <a:noFill/>
          <a:ln w="12700">
            <a:solidFill>
              <a:srgbClr val="3B479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98080" y="43434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Vizinhança N(s)</a:t>
            </a:r>
            <a:endParaRPr lang="en-US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459943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Soluções alcançáveis a partir de s por 1 ou 2 trocas de atribuição.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539496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EEF3F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394960"/>
            <a:ext cx="10561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aceitação:  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aceita se melhora f(S), </a:t>
            </a:r>
            <a:r>
              <a:rPr lang="en-US" sz="14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aceitar soluções piores.
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parada:  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 milhão de iterações, ou interrupção manual (melhoria futura: parar por % de ganho).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— Otimização da Distribuição de Disciplinas a Professores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685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de </a:t>
            </a:r>
            <a:r>
              <a:rPr lang="en-US" sz="27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oferecimentos (2 créditos cada) e 3 professores. Aptidão (e custo) entre parênteses.</a:t>
            </a:r>
            <a:endParaRPr lang="en-US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452935"/>
              </p:ext>
            </p:extLst>
          </p:nvPr>
        </p:nvGraphicFramePr>
        <p:xfrm>
          <a:off x="548640" y="2011680"/>
          <a:ext cx="10881360" cy="134112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Oferecimento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· Cálculo 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(1.0)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(10.0)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(1.5)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· Algoritmos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(10.0)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(1.3)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(2.0)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 · Est. de Dados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(5.0)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(2.5)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(1.0)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F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822960" y="3520440"/>
            <a:ext cx="4846320" cy="2606040"/>
          </a:xfrm>
          <a:prstGeom prst="roundRect">
            <a:avLst>
              <a:gd name="adj" fmla="val 3509"/>
            </a:avLst>
          </a:prstGeom>
          <a:solidFill>
            <a:srgbClr val="EEF3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97280" y="368503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Solução inicial (aleatória)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40873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 → P3  ·  D2 → P2  ·  D3 → P3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4480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Carga:  P1 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   P2 = 2   P3 = 4 créditos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97280" y="4892040"/>
            <a:ext cx="4297680" cy="0"/>
          </a:xfrm>
          <a:prstGeom prst="line">
            <a:avLst/>
          </a:prstGeom>
          <a:noFill/>
          <a:ln w="12700">
            <a:solidFill>
              <a:srgbClr val="C7D0E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05663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600" b="1" baseline="-40000" dirty="0">
                <a:solidFill>
                  <a:srgbClr val="1E2761"/>
                </a:solidFill>
              </a:rPr>
              <a:t>dist</a:t>
            </a: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20      </a:t>
            </a:r>
            <a:r>
              <a:rPr lang="en-US" sz="16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600" b="1" baseline="-40000" dirty="0">
                <a:solidFill>
                  <a:srgbClr val="1E2761"/>
                </a:solidFill>
              </a:rPr>
              <a:t>atrib</a:t>
            </a: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3.8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77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sobrecarregado (4 créditos) vs. P1 (0)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06440" y="44348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51206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D1: P3→P1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92240" y="3520440"/>
            <a:ext cx="4846320" cy="2606040"/>
          </a:xfrm>
          <a:prstGeom prst="roundRect">
            <a:avLst>
              <a:gd name="adj" fmla="val 3509"/>
            </a:avLst>
          </a:prstGeom>
          <a:solidFill>
            <a:srgbClr val="1E276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6560" y="368503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Depois de 1 iteração de busca local</a:t>
            </a:r>
            <a:endParaRPr lang="en-US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40873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 → P1  ·  D2 → P2  ·  D3 → P3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4480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Carga:  P1 = 2   P2 = 2   P3 = 2 créditos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66560" y="4892040"/>
            <a:ext cx="4297680" cy="0"/>
          </a:xfrm>
          <a:prstGeom prst="line">
            <a:avLst/>
          </a:prstGeom>
          <a:noFill/>
          <a:ln w="12700">
            <a:solidFill>
              <a:srgbClr val="3B479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505663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600" b="1" baseline="-40000" dirty="0">
                <a:solidFill>
                  <a:srgbClr val="FFFFFF"/>
                </a:solidFill>
              </a:rPr>
              <a:t>dist</a:t>
            </a: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12      </a:t>
            </a: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600" b="1" baseline="-40000" dirty="0">
                <a:solidFill>
                  <a:srgbClr val="FFFFFF"/>
                </a:solidFill>
              </a:rPr>
              <a:t>atrib</a:t>
            </a: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3.3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766560" y="5577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perfeitamente </a:t>
            </a:r>
            <a:r>
              <a:rPr lang="en-US" sz="14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equilibrada</a:t>
            </a: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 </a:t>
            </a:r>
            <a:r>
              <a:rPr lang="en-US" sz="14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</a:t>
            </a: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aptidão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— Otimização da Distribuição de Disciplinas a Professores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DO MÉTODO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685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o método falha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Instância: uma disciplina obrigatória oferecida 3 </a:t>
            </a:r>
            <a:r>
              <a:rPr lang="en-US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vezes</a:t>
            </a:r>
            <a:r>
              <a:rPr lang="en-US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</a:t>
            </a:r>
            <a:r>
              <a:rPr lang="en-US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só 1 professor tem aptidão &gt; -1.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5349240" cy="2880360"/>
          </a:xfrm>
          <a:prstGeom prst="roundRect">
            <a:avLst>
              <a:gd name="adj" fmla="val 3175"/>
            </a:avLst>
          </a:prstGeom>
          <a:solidFill>
            <a:srgbClr val="EEF3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35915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único professor apto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822960" y="2761488"/>
            <a:ext cx="4800600" cy="502920"/>
          </a:xfrm>
          <a:prstGeom prst="roundRect">
            <a:avLst>
              <a:gd name="adj" fmla="val 12727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276148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Ana — única com aptidão &gt; -1 (nível 5)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" y="3511296"/>
            <a:ext cx="137160" cy="1371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34015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 → BSI  → também atribuída a Ana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8680" y="4014216"/>
            <a:ext cx="137160" cy="1371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43000" y="3904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 → TADS  → também atribuída a Ana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68680" y="4517136"/>
            <a:ext cx="137160" cy="1371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43000" y="4407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 → Serviço  → também atribuída a Ana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778829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3 ofertas vão, obrigatoriamente, para a mesma pessoa.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5394960" cy="2880360"/>
          </a:xfrm>
          <a:prstGeom prst="roundRect">
            <a:avLst>
              <a:gd name="adj" fmla="val 3175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23591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 busca local não ajuda</a:t>
            </a:r>
            <a:endParaRPr lang="en-US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7432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Tentativa de swap: mover uma disciplina de Ana para outro professor.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0" y="3335383"/>
            <a:ext cx="4846320" cy="594360"/>
          </a:xfrm>
          <a:prstGeom prst="roundRect">
            <a:avLst>
              <a:gd name="adj" fmla="val 10769"/>
            </a:avLst>
          </a:prstGeom>
          <a:solidFill>
            <a:srgbClr val="F3D9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331927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Beto — aptidão -1 → custo 10.0 (máximo)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977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REJEITADO: </a:t>
            </a:r>
            <a:r>
              <a:rPr lang="en-US" sz="1400" i="1" dirty="0" err="1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pioraria</a:t>
            </a:r>
            <a:r>
              <a:rPr lang="en-US" sz="1400" i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f_atrib mais do que melhoraria f_dist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4434840"/>
            <a:ext cx="4846320" cy="0"/>
          </a:xfrm>
          <a:prstGeom prst="line">
            <a:avLst/>
          </a:prstGeom>
          <a:noFill/>
          <a:ln w="12700">
            <a:solidFill>
              <a:srgbClr val="3B479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45217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swap viável equilibra a carga de Ana. A busca local fica presa nesse ótimo local.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257800"/>
            <a:ext cx="10972800" cy="594360"/>
          </a:xfrm>
          <a:prstGeom prst="roundRect">
            <a:avLst>
              <a:gd name="adj" fmla="val 12308"/>
            </a:avLst>
          </a:prstGeom>
          <a:solidFill>
            <a:srgbClr val="EEF3F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525780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após 1 milhão de iterações, o </a:t>
            </a:r>
            <a:r>
              <a:rPr lang="en-US" sz="12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desbalanceamento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pois o gargalo é </a:t>
            </a:r>
            <a:r>
              <a:rPr lang="en-US" sz="12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estrutural,não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uma falha do algoritmo de busca em si.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— Otimização da Distribuição de Disciplinas a Professores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685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autores encontraram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38728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12–16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308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créditos/professor na carga anual — só 4 de diferença entre extremos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06824" y="1600200"/>
            <a:ext cx="3538728" cy="137160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35424" y="1719072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35424" y="2331720"/>
            <a:ext cx="308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disciplinas alocadas com </a:t>
            </a:r>
            <a:r>
              <a:rPr lang="en-US" sz="14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aptidão</a:t>
            </a: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65008" y="1600200"/>
            <a:ext cx="3538728" cy="137160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3608" y="1719072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293608" y="2331720"/>
            <a:ext cx="308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 designados a disciplinas com aptidão -1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004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Disciplinas distribuídas por aptidão dos professores</a:t>
            </a:r>
            <a:endParaRPr lang="en-US" dirty="0"/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245804435"/>
              </p:ext>
            </p:extLst>
          </p:nvPr>
        </p:nvGraphicFramePr>
        <p:xfrm>
          <a:off x="548640" y="3520440"/>
          <a:ext cx="667512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7406640" y="3200400"/>
            <a:ext cx="4251960" cy="297180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635240" y="3346704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com o coordenador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635240" y="3858768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alocação automatizada teve carga mais equilibrada e maior aderência à aptidão do que a manual real (1º sem. 2025).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35240" y="4754880"/>
            <a:ext cx="3794760" cy="0"/>
          </a:xfrm>
          <a:prstGeom prst="line">
            <a:avLst/>
          </a:prstGeom>
          <a:noFill/>
          <a:ln w="12700">
            <a:solidFill>
              <a:srgbClr val="3B479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35240" y="486460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apontadas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7635240" y="5120640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repetir disciplina; peso da carga por nº de disciplinas; parada automática por % de melhoria.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— Otimização da Distribuição de Disciplinas a Professores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754880"/>
            <a:ext cx="4206240" cy="420624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FECHAR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685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41732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busca local simples com construção aleatória + swap/swap2 </a:t>
            </a:r>
            <a:r>
              <a:rPr lang="en-US" sz="1400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superou</a:t>
            </a: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alocação manual </a:t>
            </a:r>
            <a:r>
              <a:rPr lang="en-US" sz="1400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Porém</a:t>
            </a: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depende da existência de professores aptos para cada disciplina.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697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é um bom estudo de caso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18688"/>
            <a:ext cx="146304" cy="146304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063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real, com dados reais e validação de um tomador de decisão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785616"/>
            <a:ext cx="146304" cy="146304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363016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 bem solução inicial construtiva, vizinhança, movimento e ótimo local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6974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Trabalhos futuros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63640" y="3163824"/>
            <a:ext cx="146304" cy="146304"/>
          </a:xfrm>
          <a:prstGeom prst="ellipse">
            <a:avLst/>
          </a:prstGeom>
          <a:solidFill>
            <a:srgbClr val="E7A6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0" y="302666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restrições de grade: conflitos de horário, ocupação de salas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63640" y="3621024"/>
            <a:ext cx="146304" cy="146304"/>
          </a:xfrm>
          <a:prstGeom prst="ellipse">
            <a:avLst/>
          </a:prstGeom>
          <a:solidFill>
            <a:srgbClr val="E7A6A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34930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não dar aula à noite e de manhã no dia seguinte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4078224"/>
            <a:ext cx="146304" cy="146304"/>
          </a:xfrm>
          <a:prstGeom prst="ellipse">
            <a:avLst/>
          </a:prstGeom>
          <a:solidFill>
            <a:srgbClr val="E7A6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394106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parada automático, por % de melhoria do custo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892040"/>
            <a:ext cx="10881360" cy="0"/>
          </a:xfrm>
          <a:prstGeom prst="line">
            <a:avLst/>
          </a:prstGeom>
          <a:noFill/>
          <a:ln w="12700">
            <a:solidFill>
              <a:srgbClr val="3B47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02920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MORISHITA, C. N.; MEIRA, L. A. A. Otimização da Distribuição de Disciplinas a Professores Baseada em Busca Local. Anais do 57º Simpósio Brasileiro de Pesquisa Operacional (SBPO), Gramado/RS, 2025.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proceedings.science/sbpo/sbpo-2025/trabalhos/otimizacao-da-distribuicao-de-disciplinas-a-professores-baseada-em-busca-local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 Perguntas?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1 — Otimização da Distribuição de Disciplinas a Professores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09F951-FB9B-E6F4-D175-A57ADB0CB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D924C3-B113-39AC-E89E-76C3202C10D1}"/>
              </a:ext>
            </a:extLst>
          </p:cNvPr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8A9DD2A-672A-F4F0-4A85-8BA5F4BC74DC}"/>
              </a:ext>
            </a:extLst>
          </p:cNvPr>
          <p:cNvSpPr/>
          <p:nvPr/>
        </p:nvSpPr>
        <p:spPr>
          <a:xfrm>
            <a:off x="9875520" y="4754880"/>
            <a:ext cx="4206240" cy="420624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B138B15-7C33-A87F-CC0C-89214C94DB96}"/>
              </a:ext>
            </a:extLst>
          </p:cNvPr>
          <p:cNvSpPr txBox="1"/>
          <p:nvPr/>
        </p:nvSpPr>
        <p:spPr>
          <a:xfrm>
            <a:off x="0" y="2560320"/>
            <a:ext cx="1219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</a:t>
            </a: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4400" dirty="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3BC69626-24E9-293F-7AE6-72B079AD64A8}"/>
              </a:ext>
            </a:extLst>
          </p:cNvPr>
          <p:cNvSpPr txBox="1"/>
          <p:nvPr/>
        </p:nvSpPr>
        <p:spPr>
          <a:xfrm>
            <a:off x="0" y="3200400"/>
            <a:ext cx="1219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747901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1453</Words>
  <Application>Microsoft Office PowerPoint</Application>
  <PresentationFormat>Widescreen</PresentationFormat>
  <Paragraphs>215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mickaell oliveira</cp:lastModifiedBy>
  <cp:revision>2</cp:revision>
  <dcterms:created xsi:type="dcterms:W3CDTF">2026-09-13T19:45:37Z</dcterms:created>
  <dcterms:modified xsi:type="dcterms:W3CDTF">2026-09-13T20:12:10Z</dcterms:modified>
</cp:coreProperties>
</file>