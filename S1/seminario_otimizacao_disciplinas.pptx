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pt-BR" sz="1300" b="0" i="0" u="none" strike="noStrike">
                <a:solidFill>
                  <a:srgbClr val="1E2761"/>
                </a:solidFill>
                <a:latin typeface="Calibri"/>
              </a:rPr>
              <a:t>Custo f_dist por cenário de carga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f_dist(S)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CF5-4CF3-927F-F27A6DDCAE65}"/>
              </c:ext>
            </c:extLst>
          </c:dPt>
          <c:dPt>
            <c:idx val="1"/>
            <c:invertIfNegative val="0"/>
            <c:bubble3D val="0"/>
            <c:spPr>
              <a:solidFill>
                <a:srgbClr val="8FA3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CF5-4CF3-927F-F27A6DDCAE65}"/>
              </c:ext>
            </c:extLst>
          </c:dPt>
          <c:dPt>
            <c:idx val="2"/>
            <c:invertIfNegative val="0"/>
            <c:bubble3D val="0"/>
            <c:spPr>
              <a:solidFill>
                <a:srgbClr val="E7A6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CF5-4CF3-927F-F27A6DDCAE6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{2,2,2}</c:v>
                </c:pt>
                <c:pt idx="1">
                  <c:v>{1,2,3}</c:v>
                </c:pt>
                <c:pt idx="2">
                  <c:v>{1,1,4}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14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CF5-4CF3-927F-F27A6DDCAE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9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Ana</c:v>
                </c:pt>
                <c:pt idx="1">
                  <c:v>Beatriz</c:v>
                </c:pt>
                <c:pt idx="2">
                  <c:v>Carlos</c:v>
                </c:pt>
                <c:pt idx="3">
                  <c:v>Daniela</c:v>
                </c:pt>
                <c:pt idx="4">
                  <c:v>Eduardo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14</c:v>
                </c:pt>
                <c:pt idx="3">
                  <c:v>14</c:v>
                </c:pt>
                <c:pt idx="4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BC-436F-B541-E1E3FF5FF1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9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584"/>
                    </a:solidFill>
                    <a:latin typeface="Arial"/>
                  </a:defRPr>
                </a:pPr>
                <a:r>
                  <a:rPr lang="pt-BR" sz="1000" b="0" i="0" u="none" strike="noStrike">
                    <a:solidFill>
                      <a:srgbClr val="5B6584"/>
                    </a:solidFill>
                    <a:latin typeface="Arial"/>
                  </a:rPr>
                  <a:t>Créditos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Disciplinas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-1</c:v>
                </c:pt>
                <c:pt idx="1">
                  <c:v>0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  <c:pt idx="5">
                  <c:v>4</c:v>
                </c:pt>
                <c:pt idx="6">
                  <c:v>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  <c:pt idx="4">
                  <c:v>9</c:v>
                </c:pt>
                <c:pt idx="5">
                  <c:v>23</c:v>
                </c:pt>
                <c:pt idx="6">
                  <c:v>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43-4248-B13D-6129DA8184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584"/>
                    </a:solidFill>
                    <a:latin typeface="Arial"/>
                  </a:defRPr>
                </a:pPr>
                <a:r>
                  <a:rPr lang="pt-BR" sz="1000" b="0" i="0" u="none" strike="noStrike">
                    <a:solidFill>
                      <a:srgbClr val="5B6584"/>
                    </a:solidFill>
                    <a:latin typeface="Arial"/>
                  </a:rPr>
                  <a:t>Aptidão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9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5255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608A5-2FE4-F791-E7EE-77333877E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57FA4E-1EAA-4B88-5DAF-80AB675ED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FFE28D-9D52-3747-B608-E53134FD4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21B5B-7F88-0C8D-D5A5-A5E595670F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42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42C75-1261-8E8A-6F88-4CBEEA508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22189C-AC52-1738-C818-A5CAB4CA9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A4A0A6-C033-EA79-5B4E-26E21F5A3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11962-E0D3-0D6D-79F0-347062BBC8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43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2011680" y="4754880"/>
            <a:ext cx="4206240" cy="420624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424160" y="4297680"/>
            <a:ext cx="1280160" cy="128016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1  ·  INTELIGÊNCIA COMPUTACIONAL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Otimização da Distribuição de Disciplinas a Professores Baseada em Busca Local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problema de otimização combinatória (timetabling) resolvido com construção de solução inicial e busca local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29260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822960" y="4663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 base: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Morishita, C. N.; Meira, L. A. A. — 57º SBPO, Gramado/RS, 2025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Dupla: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Gotelip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Delgado  ·  Mickaell de Oliveira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Inteligência Computacional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858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ver na apresentação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77240" y="19431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777240" y="1943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7556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&amp; objetivo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13055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timetabling e a aplicação real na Unicamp (TADS/BSI)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0760" y="160020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309360" y="19431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6309360" y="1943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17556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Solução inicial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213055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algoritmo monta a primeira atribuição de professores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77240" y="33604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777240" y="33604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17296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Funções objetivo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354787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atribuição, custo de distribuição e o custo combinado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80760" y="301752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6309360" y="33604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6309360" y="33604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317296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local &amp; vizinhança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354787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solução é refinada: movimentos swap e swap2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43484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777240" y="47777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 txBox="1"/>
          <p:nvPr/>
        </p:nvSpPr>
        <p:spPr>
          <a:xfrm>
            <a:off x="777240" y="47777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1463040" y="459028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463040" y="49651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 de equilíbrio de carga e aderência à aptidão dos professores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080760" y="443484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6309360" y="47777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 txBox="1"/>
          <p:nvPr/>
        </p:nvSpPr>
        <p:spPr>
          <a:xfrm>
            <a:off x="6309360" y="47777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6995160" y="459028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995160" y="49651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funcionou, limites do modelo e trabalhos futuros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1 — Otimização da Distribuição de Disciplinas a Professores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858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Timetabling: atribuir disciplinas a professores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868680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geral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0848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Timetabling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560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X eventos para Y recursos, garantindo que um conjunto de restrições Z seja satisfeito.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3520440"/>
            <a:ext cx="4754880" cy="0"/>
          </a:xfrm>
          <a:prstGeom prst="line">
            <a:avLst/>
          </a:prstGeom>
          <a:noFill/>
          <a:ln w="12700">
            <a:solidFill>
              <a:srgbClr val="3B47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868680" y="3657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artigo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95020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oferecimentos de disciplinas
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professores disponíveis
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aptidão mínima + carga balanceada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600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aplicação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90195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Alocação de professores às disciplinas dos cursos de Tecnologia em Análise e Desenvolvimento de Sistemas e Bacharelado em Sistemas de Informação </a:t>
            </a:r>
            <a:r>
              <a:rPr lang="en-US" sz="130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UNICAMP.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788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principal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09067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Facilitar o </a:t>
            </a:r>
            <a:r>
              <a:rPr lang="en-US" sz="130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manual da </a:t>
            </a:r>
            <a:r>
              <a:rPr lang="en-US" sz="130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meio de uma abordagem metaheurística de otimização.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794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é difícil?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4114800"/>
            <a:ext cx="5394960" cy="475488"/>
          </a:xfrm>
          <a:prstGeom prst="roundRect">
            <a:avLst>
              <a:gd name="adj" fmla="val 11538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400800" y="4261104"/>
            <a:ext cx="182880" cy="1828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6720840" y="414223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Interesses individuais dos docentes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4681728"/>
            <a:ext cx="5394960" cy="475488"/>
          </a:xfrm>
          <a:prstGeom prst="roundRect">
            <a:avLst>
              <a:gd name="adj" fmla="val 11538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6400800" y="4828032"/>
            <a:ext cx="182880" cy="1828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6720840" y="470916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horária equilibrada entre professores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5248656"/>
            <a:ext cx="5394960" cy="475488"/>
          </a:xfrm>
          <a:prstGeom prst="roundRect">
            <a:avLst>
              <a:gd name="adj" fmla="val 11538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6400800" y="5394960"/>
            <a:ext cx="182880" cy="1828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6720840" y="527608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disciplinas × muitos docentes = combinações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1 — Otimização da Distribuição de Disciplinas a Professores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DO PROBLEMA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858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planilha de aptidões dos professores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é um oferecimento de disciplina; cada coluna a partir da 5ª é um professor, com sua aptidão para ministrá-la.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0881360" cy="19202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Disciplina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Créditos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Oferecimentos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Beatriz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Carlos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Daniela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Administração 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Serviço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TT003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Algoritmos 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BSI, TADS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TT004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Algoritmos II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BSI, TADS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TT012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Ciência, Tecnologia e Sociedade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BSI, TADS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4251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aptidão (coluna do professor)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4617720"/>
            <a:ext cx="685800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548640" y="461772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46360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Aptidão máxima — muito interesse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5074920"/>
            <a:ext cx="685800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548640" y="507492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a 4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50932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Interesse, do menor ao maior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5532120"/>
            <a:ext cx="685800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 txBox="1"/>
          <p:nvPr/>
        </p:nvSpPr>
        <p:spPr>
          <a:xfrm>
            <a:off x="548640" y="553212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55504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capacitado, mas aceita se necessário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5989320"/>
            <a:ext cx="685800" cy="347472"/>
          </a:xfrm>
          <a:prstGeom prst="roundRect">
            <a:avLst>
              <a:gd name="adj" fmla="val 15789"/>
            </a:avLst>
          </a:prstGeom>
          <a:solidFill>
            <a:srgbClr val="E7A6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 txBox="1"/>
          <p:nvPr/>
        </p:nvSpPr>
        <p:spPr>
          <a:xfrm>
            <a:off x="548640" y="598932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371600" y="60076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Desinteresse total / nenhuma aptidão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92240" y="4251960"/>
            <a:ext cx="4937760" cy="2103120"/>
          </a:xfrm>
          <a:prstGeom prst="roundRect">
            <a:avLst>
              <a:gd name="adj" fmla="val 4348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 txBox="1"/>
          <p:nvPr/>
        </p:nvSpPr>
        <p:spPr>
          <a:xfrm>
            <a:off x="6766560" y="4434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Oferecimentos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766560" y="473659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disciplina pode ser ofertada mais de uma vez (ex.: uma turma por curso). Cria-se o par (disciplina, nº da oferta):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53492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(TT010, 0)  </a:t>
            </a: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1ª oferta (BSI)
</a:t>
            </a: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(TT010, 1)  </a:t>
            </a: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2ª oferta (TADS)
</a:t>
            </a: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(TT010, 2)  </a:t>
            </a: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3ª oferta (Serviço)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1 — Otimização da Distribuição de Disciplinas a Professores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858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solução inicial é construída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oferecimento, escolhe-se aleatoriamente um professor apto (aptidão &gt; -1).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337560" cy="1737360"/>
          </a:xfrm>
          <a:prstGeom prst="roundRect">
            <a:avLst>
              <a:gd name="adj" fmla="val 5263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77240" y="2377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7772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cada oferecimento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3375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Percorre-se a lista de oferecimentos D, um por vez.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904488" y="27432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206240" y="2148840"/>
            <a:ext cx="3337560" cy="1737360"/>
          </a:xfrm>
          <a:prstGeom prst="roundRect">
            <a:avLst>
              <a:gd name="adj" fmla="val 5263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434840" y="2377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44348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Filtra professores aptos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33375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professor, verifica-se se aptidão(professor, disciplina) &gt; -1.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562088" y="27432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863840" y="2148840"/>
            <a:ext cx="333756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092440" y="237744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80924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 aleatoriamente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092440" y="33375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professor apto é sorteado e atribuído àquele oferecimento.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10881360" cy="1920240"/>
          </a:xfrm>
          <a:prstGeom prst="roundRect">
            <a:avLst>
              <a:gd name="adj" fmla="val 4762"/>
            </a:avLst>
          </a:prstGeom>
          <a:solidFill>
            <a:srgbClr val="0F15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868680" y="431596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1 — Geração de uma solução </a:t>
            </a:r>
            <a:r>
              <a:rPr lang="en-US" sz="1200" b="1" dirty="0" err="1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aleatória</a:t>
            </a:r>
            <a:endParaRPr lang="en-US" sz="1200" b="1" dirty="0">
              <a:solidFill>
                <a:srgbClr val="F2A54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4645152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cada oferecimento ∈ D faça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aptos ← ∅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para cada professor ∈ P faça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 aptidao(professor, disciplina) &gt; -1 então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aptos ← aptos ∪ {professor}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solucao[oferecimento] ← escolherAleatorio(aptos)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1 — Otimização da Distribuição de Disciplinas a Professores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OBJETIVO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858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de atribuição — respeitar a aptidão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777240" y="181051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6002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baseline="-40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</a:t>
            </a:r>
            <a:r>
              <a:rPr lang="en-US" sz="2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(S) = </a:t>
            </a: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1100" baseline="-40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i∈P</a:t>
            </a: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Σ</a:t>
            </a:r>
            <a:r>
              <a:rPr lang="en-US" sz="1100" baseline="-40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j∈D</a:t>
            </a:r>
            <a:r>
              <a:rPr lang="en-US" sz="2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x</a:t>
            </a:r>
            <a:r>
              <a:rPr lang="en-US" sz="1200" b="1" baseline="-40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ij</a:t>
            </a:r>
            <a:r>
              <a:rPr lang="en-US" sz="2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</a:t>
            </a:r>
            <a:r>
              <a:rPr lang="en-US" sz="1200" b="1" baseline="-40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ij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974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professores   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oferecimentos
</a:t>
            </a: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ᵢⱼ 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 se professor i está na disciplina j
</a:t>
            </a: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ᵢⱼ 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custo dessa atribuição (tabela ao lado)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600200"/>
          <a:ext cx="2377440" cy="42976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Aptidão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7A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7A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8641080" y="1600200"/>
            <a:ext cx="2999232" cy="4480560"/>
          </a:xfrm>
          <a:prstGeom prst="roundRect">
            <a:avLst>
              <a:gd name="adj" fmla="val 304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8869680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869680" y="2103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Natália ministra a Disciplina A; Matheus ministra a Disciplina B.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8869680" y="2834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Natália→A: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
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Matheus→B: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
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869680" y="3657600"/>
            <a:ext cx="2560320" cy="0"/>
          </a:xfrm>
          <a:prstGeom prst="line">
            <a:avLst/>
          </a:prstGeom>
          <a:noFill/>
          <a:ln w="12700">
            <a:solidFill>
              <a:srgbClr val="3B47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 txBox="1"/>
          <p:nvPr/>
        </p:nvSpPr>
        <p:spPr>
          <a:xfrm>
            <a:off x="886968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total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869680" y="404164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8869680" y="4800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menor, melhor (problema de minimização)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1 — Otimização da Distribuição de Disciplinas a Professores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OBJETIVO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858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de distribuição — balancear a carga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868680" y="1600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r>
              <a:rPr lang="en-US" sz="1200" b="1" baseline="-40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</a:t>
            </a:r>
            <a:r>
              <a:rPr lang="en-US" sz="2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(S) = </a:t>
            </a: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1100" baseline="-40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i∈P</a:t>
            </a:r>
            <a:r>
              <a:rPr lang="en-US" sz="2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ρ(i,S)</a:t>
            </a:r>
            <a:r>
              <a:rPr lang="en-US" sz="1500" b="1" baseline="30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974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ρ(i,S) 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total de créditos atribuídos ao professor i na solução S. Elevar ao quadrado penaliza fortemente cargas altas, forçando o equilíbrio.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57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distribuindo 6 créditos entre 3 professores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41648"/>
            <a:ext cx="5394960" cy="548640"/>
          </a:xfrm>
          <a:prstGeom prst="roundRect">
            <a:avLst>
              <a:gd name="adj" fmla="val 11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777240" y="404164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{2, 2, 2}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404164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Balanceado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404164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12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700016"/>
            <a:ext cx="5394960" cy="548640"/>
          </a:xfrm>
          <a:prstGeom prst="roundRect">
            <a:avLst>
              <a:gd name="adj" fmla="val 1166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777240" y="470001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{1, 2, 3}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331720" y="470001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desbalanço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470001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14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358384"/>
            <a:ext cx="5394960" cy="548640"/>
          </a:xfrm>
          <a:prstGeom prst="roundRect">
            <a:avLst>
              <a:gd name="adj" fmla="val 11667"/>
            </a:avLst>
          </a:prstGeom>
          <a:solidFill>
            <a:srgbClr val="F3D9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777240" y="535838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{1, 1, 4}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331720" y="5358384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Desbalanceado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206240" y="535838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7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18</a:t>
            </a:r>
            <a:endParaRPr lang="en-US" sz="15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6263640" y="1600200"/>
          <a:ext cx="53949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1 — Otimização da Distribuição de Disciplinas a Professores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AECBB6-7F55-D70B-7ACD-92D368FB6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1">
            <a:extLst>
              <a:ext uri="{FF2B5EF4-FFF2-40B4-BE49-F238E27FC236}">
                <a16:creationId xmlns:a16="http://schemas.microsoft.com/office/drawing/2014/main" id="{FB3BAF69-24C6-8AD1-5916-E9007070263A}"/>
              </a:ext>
            </a:extLst>
          </p:cNvPr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7CE265AA-C3BF-D7A5-A648-A5376387213C}"/>
              </a:ext>
            </a:extLst>
          </p:cNvPr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497F64FB-BBA2-29B8-7C45-5FCCCAF06C49}"/>
              </a:ext>
            </a:extLst>
          </p:cNvPr>
          <p:cNvSpPr txBox="1"/>
          <p:nvPr/>
        </p:nvSpPr>
        <p:spPr>
          <a:xfrm>
            <a:off x="12344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DAS DUAS FUNÇÕES</a:t>
            </a:r>
            <a:endParaRPr lang="en-US" sz="12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CC57C8B0-2062-F300-4682-E1170290C28D}"/>
              </a:ext>
            </a:extLst>
          </p:cNvPr>
          <p:cNvSpPr txBox="1"/>
          <p:nvPr/>
        </p:nvSpPr>
        <p:spPr>
          <a:xfrm>
            <a:off x="1234440" y="685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custo combinado — uma métrica biobjetivo</a:t>
            </a:r>
            <a:endParaRPr lang="en-US" sz="2800" dirty="0"/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771F520D-8008-C0DE-C277-DC8935802270}"/>
              </a:ext>
            </a:extLst>
          </p:cNvPr>
          <p:cNvSpPr/>
          <p:nvPr/>
        </p:nvSpPr>
        <p:spPr>
          <a:xfrm>
            <a:off x="822960" y="169164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442DB36B-D9F1-7B4E-3199-2CDB04EDDD1B}"/>
              </a:ext>
            </a:extLst>
          </p:cNvPr>
          <p:cNvSpPr txBox="1"/>
          <p:nvPr/>
        </p:nvSpPr>
        <p:spPr>
          <a:xfrm>
            <a:off x="822960" y="169164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f(S) = </a:t>
            </a: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 </a:t>
            </a: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⁄</a:t>
            </a: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4047</a:t>
            </a: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f</a:t>
            </a:r>
            <a:r>
              <a:rPr lang="en-US" sz="14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</a:t>
            </a: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(S)  +  </a:t>
            </a: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 </a:t>
            </a: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⁄</a:t>
            </a: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152</a:t>
            </a: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f</a:t>
            </a:r>
            <a:r>
              <a:rPr lang="en-US" sz="14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</a:t>
            </a: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(S)</a:t>
            </a:r>
            <a:endParaRPr lang="en-US" sz="3000" dirty="0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7EFD2F3B-8C99-D709-0D4B-9F7BD4F3A853}"/>
              </a:ext>
            </a:extLst>
          </p:cNvPr>
          <p:cNvSpPr/>
          <p:nvPr/>
        </p:nvSpPr>
        <p:spPr>
          <a:xfrm>
            <a:off x="822960" y="3246120"/>
            <a:ext cx="3429000" cy="2788920"/>
          </a:xfrm>
          <a:prstGeom prst="roundRect">
            <a:avLst>
              <a:gd name="adj" fmla="val 3279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09C2DBD6-89D5-4211-C4D8-AD2947632A70}"/>
              </a:ext>
            </a:extLst>
          </p:cNvPr>
          <p:cNvSpPr/>
          <p:nvPr/>
        </p:nvSpPr>
        <p:spPr>
          <a:xfrm>
            <a:off x="1097280" y="352044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98381538-36D5-0684-DC6C-FB6E420C1DAF}"/>
              </a:ext>
            </a:extLst>
          </p:cNvPr>
          <p:cNvSpPr txBox="1"/>
          <p:nvPr/>
        </p:nvSpPr>
        <p:spPr>
          <a:xfrm>
            <a:off x="10972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1AE04F97-8594-714F-218F-32D5FD71D240}"/>
              </a:ext>
            </a:extLst>
          </p:cNvPr>
          <p:cNvSpPr txBox="1"/>
          <p:nvPr/>
        </p:nvSpPr>
        <p:spPr>
          <a:xfrm>
            <a:off x="1097280" y="41605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Pesos iguais (0.5)</a:t>
            </a:r>
            <a:endParaRPr lang="en-US" sz="1500" dirty="0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D14E76D9-7780-D8C2-5612-EA255977061F}"/>
              </a:ext>
            </a:extLst>
          </p:cNvPr>
          <p:cNvSpPr txBox="1"/>
          <p:nvPr/>
        </p:nvSpPr>
        <p:spPr>
          <a:xfrm>
            <a:off x="1097280" y="470916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Balanceamento de carga e aptidão dos professores têm a mesma importância — 50% cada.</a:t>
            </a:r>
            <a:endParaRPr lang="en-US" sz="1200" dirty="0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B79BCC3A-C143-1A5A-74C0-391C53A249EF}"/>
              </a:ext>
            </a:extLst>
          </p:cNvPr>
          <p:cNvSpPr/>
          <p:nvPr/>
        </p:nvSpPr>
        <p:spPr>
          <a:xfrm>
            <a:off x="4526280" y="3246120"/>
            <a:ext cx="3429000" cy="2788920"/>
          </a:xfrm>
          <a:prstGeom prst="roundRect">
            <a:avLst>
              <a:gd name="adj" fmla="val 3279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7EA632B9-6198-8CEC-46DE-089AD8679D00}"/>
              </a:ext>
            </a:extLst>
          </p:cNvPr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A4850F2F-8753-6117-64D4-2AF051F93222}"/>
              </a:ext>
            </a:extLst>
          </p:cNvPr>
          <p:cNvSpPr txBox="1"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AF7B1435-DF88-412B-AEE8-991FEB7AF111}"/>
              </a:ext>
            </a:extLst>
          </p:cNvPr>
          <p:cNvSpPr txBox="1"/>
          <p:nvPr/>
        </p:nvSpPr>
        <p:spPr>
          <a:xfrm>
            <a:off x="4800600" y="41605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normalizar?</a:t>
            </a:r>
            <a:endParaRPr lang="en-US" sz="1500" dirty="0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0AF4CA36-65FE-8B6A-17CD-AFFAA548F962}"/>
              </a:ext>
            </a:extLst>
          </p:cNvPr>
          <p:cNvSpPr txBox="1"/>
          <p:nvPr/>
        </p:nvSpPr>
        <p:spPr>
          <a:xfrm>
            <a:off x="4800600" y="470916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f_dist opera na casa dos milhares e f_atrib na casa das centenas — sem normalizar, um critério "engoliria" o outro.</a:t>
            </a:r>
            <a:endParaRPr lang="en-US" sz="1200" dirty="0"/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07A5EA49-096C-16F6-C4B0-B3BCA3F25E5D}"/>
              </a:ext>
            </a:extLst>
          </p:cNvPr>
          <p:cNvSpPr/>
          <p:nvPr/>
        </p:nvSpPr>
        <p:spPr>
          <a:xfrm>
            <a:off x="8229600" y="3246120"/>
            <a:ext cx="3429000" cy="2788920"/>
          </a:xfrm>
          <a:prstGeom prst="roundRect">
            <a:avLst>
              <a:gd name="adj" fmla="val 3279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18">
            <a:extLst>
              <a:ext uri="{FF2B5EF4-FFF2-40B4-BE49-F238E27FC236}">
                <a16:creationId xmlns:a16="http://schemas.microsoft.com/office/drawing/2014/main" id="{0888842D-0C8C-4CB6-C017-27C9B40F8BA4}"/>
              </a:ext>
            </a:extLst>
          </p:cNvPr>
          <p:cNvSpPr/>
          <p:nvPr/>
        </p:nvSpPr>
        <p:spPr>
          <a:xfrm>
            <a:off x="8503920" y="352044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638B3FA2-09CE-7A57-E52D-25A28DB0EAD2}"/>
              </a:ext>
            </a:extLst>
          </p:cNvPr>
          <p:cNvSpPr txBox="1"/>
          <p:nvPr/>
        </p:nvSpPr>
        <p:spPr>
          <a:xfrm>
            <a:off x="850392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848402FD-CF5E-5DB1-6265-3D25E0411FE0}"/>
              </a:ext>
            </a:extLst>
          </p:cNvPr>
          <p:cNvSpPr txBox="1"/>
          <p:nvPr/>
        </p:nvSpPr>
        <p:spPr>
          <a:xfrm>
            <a:off x="8503920" y="41605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vêm 4047 e 152?</a:t>
            </a:r>
            <a:endParaRPr lang="en-US" sz="150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1C354225-C669-F50F-B051-9B8EDF43D879}"/>
              </a:ext>
            </a:extLst>
          </p:cNvPr>
          <p:cNvSpPr txBox="1"/>
          <p:nvPr/>
        </p:nvSpPr>
        <p:spPr>
          <a:xfrm>
            <a:off x="8503920" y="470916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os custos aproximados de soluções otimizadas exclusivamente para f_dist (4047) e para f_atrib (152).</a:t>
            </a:r>
            <a:endParaRPr lang="en-US" sz="120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2020649F-53B4-4655-B98D-8DCAC2600F61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1 — Otimização da Distribuição de Disciplinas a Professores</a:t>
            </a:r>
            <a:endParaRPr lang="en-US" sz="1000" dirty="0"/>
          </a:p>
        </p:txBody>
      </p:sp>
      <p:sp>
        <p:nvSpPr>
          <p:cNvPr id="48" name="Text 24">
            <a:extLst>
              <a:ext uri="{FF2B5EF4-FFF2-40B4-BE49-F238E27FC236}">
                <a16:creationId xmlns:a16="http://schemas.microsoft.com/office/drawing/2014/main" id="{19402905-B53F-26B0-0831-2209F03FC33A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1 — Otimização da Distribuição de Disciplinas a Professores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97524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REFINAMENTO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858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</a:t>
            </a: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local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iteração, a solução atual é perturbada; se o custo combinado melhora, a mudança é aceita.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05840" y="214884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1005840" y="2258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solução já encontrada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94960" y="214884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5394960" y="2258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perturbada nesta iteração (swap / swap2)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21305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 (swap/swap2)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f(sol) melhor? vira best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732520" y="214884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F3D9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8732520" y="22585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senão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73252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é revertida para best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5349240" cy="2514600"/>
          </a:xfrm>
          <a:prstGeom prst="roundRect">
            <a:avLst>
              <a:gd name="adj" fmla="val 363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822960" y="3703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 de aceitação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04164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local </a:t>
            </a:r>
            <a:r>
              <a:rPr lang="en-US" sz="125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gulosa</a:t>
            </a: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5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</a:t>
            </a: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aceita movimentos que melhoram f(S). Não há mecanismo de aceitação de </a:t>
            </a:r>
            <a:r>
              <a:rPr lang="en-US" sz="125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</a:t>
            </a: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piores</a:t>
            </a: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29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das soluções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36752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candidata é avaliada pelo custo combinado f(S): </a:t>
            </a:r>
            <a:r>
              <a:rPr lang="en-US" sz="125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</a:t>
            </a: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menor, melhor.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80760" y="3520440"/>
            <a:ext cx="5349240" cy="251460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6355080" y="3703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 de parada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40416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 até 1 milhão de iterações, ou interrupção manual pelo usuário.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55080" y="4709160"/>
            <a:ext cx="4846320" cy="0"/>
          </a:xfrm>
          <a:prstGeom prst="line">
            <a:avLst/>
          </a:prstGeom>
          <a:noFill/>
          <a:ln w="12700">
            <a:solidFill>
              <a:srgbClr val="3B47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6355080" y="4846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 apontada pelos autores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513892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 futura sugerida: parar automaticamente com base na % de melhoria do custo, em vez de interrupção manual.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1 — Otimização da Distribuição de Disciplinas a Professores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VIZINHANÇA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858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movimentos: swap e swap2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vizinhança N(s) é o conjunto de soluções alcançáveis trocando o professor de um ou dois oferecimentos por vez.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51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1 oferecimento aleatório e troca o professor por outro aleatório.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24612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7D0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960120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Carlos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35661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3794760" y="324612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3931920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I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Daniela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214884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644652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swap2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5877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o processo de troca duas </a:t>
            </a: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vezes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seguidas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Gera </a:t>
            </a: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perturbação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maior a cada iteração.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46520" y="324612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644652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32644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troca: swap em um oferecimento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46520" y="3813048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644652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38313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troca: swap em outro oferecimento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4434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 com swap ao longo das iterações, ampliando a exploração da vizinhança.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074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Vizinhança N(s): soluções alcançáveis a partir de s por 1 ou 2 trocas de atribuição.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1 — Otimização da Distribuição de Disciplinas a Professores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858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Equilíbrio de carga e aderência à aptidão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777240" y="17373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12–16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8716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por professor (carga anual) — apenas 4 créditos de diferença entre extremos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6002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4480560" y="17373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48716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disciplinas alocadas com aptidão máxima (nível 5)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16002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8183880" y="17373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48716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professores designados a disciplinas com aptidão -1 (desinteresse total)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520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horária por professor (exemplo anual)</a:t>
            </a:r>
            <a:endParaRPr lang="en-US" sz="125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48640" y="3840480"/>
          <a:ext cx="53035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6263640" y="35204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Disciplinas distribuídas por aptidão</a:t>
            </a:r>
            <a:endParaRPr lang="en-US" sz="1250" dirty="0"/>
          </a:p>
        </p:txBody>
      </p:sp>
      <p:graphicFrame>
        <p:nvGraphicFramePr>
          <p:cNvPr id="18" name="Chart 1"/>
          <p:cNvGraphicFramePr/>
          <p:nvPr/>
        </p:nvGraphicFramePr>
        <p:xfrm>
          <a:off x="6263640" y="3840480"/>
          <a:ext cx="53492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1 — Otimização da Distribuição de Disciplinas a Professores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PRÁTICA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858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alocação real e feedback do coordenador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reais do 1º semestre de 2025 foram comparados com o que o algoritmo geraria para as mesmas disciplinas.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822960" y="2194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Alocação</a:t>
            </a: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manual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146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variação de carga entre professores e menor concentração em aptidões altas.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20574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537960" y="2194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Alocação automatizada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5146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mais equilibrada e maior concentração de disciplinas em </a:t>
            </a: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aptidões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altas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a </a:t>
            </a: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alocação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manual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03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coordenador apontou como limitação do modelo atual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77240" y="41696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77724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142232"/>
            <a:ext cx="9875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a mesma disciplina deveria custar menos do que ministrar duas disciplinas diferentes.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777240" y="48554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777240" y="4855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828032"/>
            <a:ext cx="9875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horárias de mesmo valor deveriam pesar diferente conforme o número de disciplinas (ex.: 8h em 2 disciplinas ≠ 8h em 3).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486400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777240" y="55412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777240" y="5541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5513832"/>
            <a:ext cx="9875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critério de parada deveria ser automático, baseado na % de melhoria do </a:t>
            </a:r>
            <a:r>
              <a:rPr lang="en-US" sz="120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não manual.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1 — Otimização da Distribuição de Disciplinas a Professores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875520" y="4754880"/>
            <a:ext cx="4206240" cy="420624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FECHAR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685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 e trabalhos futuros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868680" y="178308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busca local relativamente simples com </a:t>
            </a:r>
            <a:r>
              <a:rPr lang="en-US" sz="15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construção aleatória + swap/swap2 que </a:t>
            </a:r>
            <a:r>
              <a:rPr lang="en-US" sz="15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superou</a:t>
            </a: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alocação manual tradicional, tanto em equilíbrio de carga quanto em adequação à aptidão dos docentes.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004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é um bom estudo de caso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868680" y="35661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real, com dados reais e validação de um tomador de decisão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79392"/>
            <a:ext cx="164592" cy="164592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868680" y="41605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 bem solução inicial construtiva, vizinhança, movimento e ótimo local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32004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trabalhos futuros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63640" y="3685032"/>
            <a:ext cx="164592" cy="164592"/>
          </a:xfrm>
          <a:prstGeom prst="ellipse">
            <a:avLst/>
          </a:prstGeom>
          <a:solidFill>
            <a:srgbClr val="E7A6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6583680" y="35661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trata restrições de grade: conflitos de horário, preferências de turno, ocupação de salas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4279392"/>
            <a:ext cx="164592" cy="164592"/>
          </a:xfrm>
          <a:prstGeom prst="ellipse">
            <a:avLst/>
          </a:prstGeom>
          <a:solidFill>
            <a:srgbClr val="E7A6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6583680" y="41605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não dar aula à noite e de manhã no dia seguinte ainda não é modelada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10881360" cy="0"/>
          </a:xfrm>
          <a:prstGeom prst="line">
            <a:avLst/>
          </a:prstGeom>
          <a:noFill/>
          <a:ln w="12700">
            <a:solidFill>
              <a:srgbClr val="3B47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548640" y="52578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Referência: 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MORISHITA, C. N.; MEIRA, L. A. A. Otimização da Distribuição de Disciplinas a Professores Baseada em Busca Local. Anais do 57º Simpósio Brasileiro de Pesquisa Operacional (SBPO), Gramado/RS, 2025. DOI: 10.59254/sbpo-2025-212511.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88F8B7-E915-963D-48E9-E55D0AFEF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20">
            <a:extLst>
              <a:ext uri="{FF2B5EF4-FFF2-40B4-BE49-F238E27FC236}">
                <a16:creationId xmlns:a16="http://schemas.microsoft.com/office/drawing/2014/main" id="{7A590F07-1D7A-9FC6-9F77-A1B7C0DE9655}"/>
              </a:ext>
            </a:extLst>
          </p:cNvPr>
          <p:cNvSpPr txBox="1"/>
          <p:nvPr/>
        </p:nvSpPr>
        <p:spPr>
          <a:xfrm>
            <a:off x="0" y="2788920"/>
            <a:ext cx="121919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</a:t>
            </a: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7DB9B288-A4DB-95A9-393F-248C83319941}"/>
              </a:ext>
            </a:extLst>
          </p:cNvPr>
          <p:cNvSpPr txBox="1"/>
          <p:nvPr/>
        </p:nvSpPr>
        <p:spPr>
          <a:xfrm>
            <a:off x="1" y="3749040"/>
            <a:ext cx="121919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47418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1714</Words>
  <Application>Microsoft Office PowerPoint</Application>
  <PresentationFormat>Widescreen</PresentationFormat>
  <Paragraphs>289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mickaell oliveira</cp:lastModifiedBy>
  <cp:revision>2</cp:revision>
  <dcterms:created xsi:type="dcterms:W3CDTF">2026-09-13T14:43:07Z</dcterms:created>
  <dcterms:modified xsi:type="dcterms:W3CDTF">2026-09-13T15:04:35Z</dcterms:modified>
</cp:coreProperties>
</file>